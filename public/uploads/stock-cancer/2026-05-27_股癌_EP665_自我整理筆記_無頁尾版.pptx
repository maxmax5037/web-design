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63091C-CE4B-46CB-8C5D-7085776A0C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991E40F-FAB6-4E45-9D3D-FD6A53BC70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40B836D-C1D9-4C03-B49E-831B67C2A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E2A38-F6DA-480C-985C-EA152C008B19}" type="datetimeFigureOut">
              <a:rPr lang="zh-TW" altLang="en-US" smtClean="0"/>
              <a:t>2026/5/29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DA4F6CF-440C-4DB7-BC0B-1FBF1CEBB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903F56-D7A2-4362-9BC8-7EDC6A2DB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945E-1789-43D4-AA16-13FC9E3EBB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4628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04930A-E133-4832-8679-E8F155FEF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3F4567-3F5F-4311-BCAF-DF87BE766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CB5A605-9677-41DF-A7CC-DD249F236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E2A38-F6DA-480C-985C-EA152C008B19}" type="datetimeFigureOut">
              <a:rPr lang="zh-TW" altLang="en-US" smtClean="0"/>
              <a:t>2026/5/29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8230BD-6D1D-4076-B60C-6FBF990DC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DDE27A0-5D57-45B7-8805-FC5C39A9D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945E-1789-43D4-AA16-13FC9E3EBB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0392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1694EB-1CE6-4C82-B68F-B9D8DBD63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EC7838D-2150-4852-A8D3-B47C16543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88E46D6-02BA-4858-A912-3594D8266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E2A38-F6DA-480C-985C-EA152C008B19}" type="datetimeFigureOut">
              <a:rPr lang="zh-TW" altLang="en-US" smtClean="0"/>
              <a:t>2026/5/29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90C2508-671C-4A36-9269-6CEB55A25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05E39A0-F9B3-48D9-BF0F-744A9AB82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945E-1789-43D4-AA16-13FC9E3EBB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9079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C5631C-3B6E-46BE-B53E-855FB70AF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6BD186F-E3DD-461D-92DD-F4387BF146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C62B41E-B142-4234-A0F1-7DA64D11DD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E1AE4EE-F18A-45FD-8C21-721D3C368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E2A38-F6DA-480C-985C-EA152C008B19}" type="datetimeFigureOut">
              <a:rPr lang="zh-TW" altLang="en-US" smtClean="0"/>
              <a:t>2026/5/29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0DF9DC1-FC1D-4968-B768-2624116A0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82C3A24-715B-4298-AA44-781A6D11A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945E-1789-43D4-AA16-13FC9E3EBB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3618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AAE3A9-FF9C-4DBB-82C8-7B576B74D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9D691AC-423C-4C18-A098-C01146619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E18FEEB-950B-48F4-8E4B-12DE381BF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58D64D6-E747-45FD-812B-3815327419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543C366-764A-4029-889B-CCDBE3107D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F165B5D-5AB8-4CBF-AD95-450936B81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E2A38-F6DA-480C-985C-EA152C008B19}" type="datetimeFigureOut">
              <a:rPr lang="zh-TW" altLang="en-US" smtClean="0"/>
              <a:t>2026/5/29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49533F8-3EB4-41CC-B8FF-A3C689979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981170D-1AD3-4F5F-8491-8698F566C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945E-1789-43D4-AA16-13FC9E3EBB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1153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B4B63B-240D-4010-A594-69DC9A808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9F8447A-F6CE-420F-B13B-1B56765E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E2A38-F6DA-480C-985C-EA152C008B19}" type="datetimeFigureOut">
              <a:rPr lang="zh-TW" altLang="en-US" smtClean="0"/>
              <a:t>2026/5/29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AE0C8AF-94F1-4C4D-89D2-67FFDE475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A6203D1-339F-4926-8DBD-8E0ECE2C2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945E-1789-43D4-AA16-13FC9E3EBB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8808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4F85789-2DBB-492A-A1DD-25982A56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E2A38-F6DA-480C-985C-EA152C008B19}" type="datetimeFigureOut">
              <a:rPr lang="zh-TW" altLang="en-US" smtClean="0"/>
              <a:t>2026/5/29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2FE4A88-9007-4162-82BE-91A935C5C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1B847C-5B9E-4869-9DA6-178E4B478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945E-1789-43D4-AA16-13FC9E3EBB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7333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0248E2-2108-49A0-97B9-FA0BB12C3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C7BBF16-D23A-42B5-B22D-B762A23BE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ED64FC1-F131-456A-B7C3-A00B464392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B60A4FB-2A96-477D-AA8F-6D766D9C4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E2A38-F6DA-480C-985C-EA152C008B19}" type="datetimeFigureOut">
              <a:rPr lang="zh-TW" altLang="en-US" smtClean="0"/>
              <a:t>2026/5/29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3A23754-4D62-42A9-AD40-5A93ED605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36548DF-80C1-4D51-A5E9-892538FAC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945E-1789-43D4-AA16-13FC9E3EBB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5989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17B547-7C6F-409E-966C-8F0A2EA44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EA8DF48-3053-4C0D-94BA-319BE054D2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9D9120A-1D82-4A98-8202-99ED020FA6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B660A6E-D498-47FB-BF39-2C73342EC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E2A38-F6DA-480C-985C-EA152C008B19}" type="datetimeFigureOut">
              <a:rPr lang="zh-TW" altLang="en-US" smtClean="0"/>
              <a:t>2026/5/29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9362BE9-2E31-47C7-A2DA-A70BAF6C8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E5CD56F-AFF8-4573-923D-9A0DFFF04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945E-1789-43D4-AA16-13FC9E3EBB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741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365F16-BA28-4124-89B1-A82C859C3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67B5EED-2C39-4D60-81C7-9906D3FB41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EFA361D-14FA-4BAA-90DE-95EF94BB9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E2A38-F6DA-480C-985C-EA152C008B19}" type="datetimeFigureOut">
              <a:rPr lang="zh-TW" altLang="en-US" smtClean="0"/>
              <a:t>2026/5/29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5235090-DD96-4BD7-B0E0-95FFD1613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3AE06FB-97C9-4165-8BC0-76221EDF3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945E-1789-43D4-AA16-13FC9E3EBB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2244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031F710-6D7E-41B8-B552-F9311079E2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CA3EADC-6A7F-433E-8090-CD093A3BE7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08FAE2E-3C55-4422-9459-088F5E89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E2A38-F6DA-480C-985C-EA152C008B19}" type="datetimeFigureOut">
              <a:rPr lang="zh-TW" altLang="en-US" smtClean="0"/>
              <a:t>2026/5/29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6C64FCF-D92D-456A-AC8D-2A4494DF3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DA1F47A-AC6E-4988-9B27-867EE41DB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945E-1789-43D4-AA16-13FC9E3EBB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288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CCFE9DD-79BF-4464-9888-DA5FA9E29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F771AB9-2E42-4108-887F-0969D8EA4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9090912-FFBA-45FB-B92E-F139ABCDF8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8E2A38-F6DA-480C-985C-EA152C008B19}" type="datetimeFigureOut">
              <a:rPr lang="zh-TW" altLang="en-US" smtClean="0"/>
              <a:t>2026/5/29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99B358-2EC6-4802-8EFB-D8CA1F7A2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B1E0A08-315A-43B2-8F28-0F8CFE3D0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B5945E-1789-43D4-AA16-13FC9E3EBB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8244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1FAA3E2-E266-4C9B-98DC-7AACDD33A74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51BC8D-4214-4DEF-B432-0278687112E6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B06F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9B405448-9C04-404E-84FF-5FD7FEF624E3}"/>
              </a:ext>
            </a:extLst>
          </p:cNvPr>
          <p:cNvSpPr/>
          <p:nvPr/>
        </p:nvSpPr>
        <p:spPr>
          <a:xfrm>
            <a:off x="10223500" y="431800"/>
            <a:ext cx="1041400" cy="1041400"/>
          </a:xfrm>
          <a:prstGeom prst="ellipse">
            <a:avLst/>
          </a:prstGeom>
          <a:solidFill>
            <a:srgbClr val="0062A6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443D7558-1DED-4C48-AC48-251BE8F06760}"/>
              </a:ext>
            </a:extLst>
          </p:cNvPr>
          <p:cNvSpPr/>
          <p:nvPr/>
        </p:nvSpPr>
        <p:spPr>
          <a:xfrm>
            <a:off x="11112500" y="1168400"/>
            <a:ext cx="635000" cy="635000"/>
          </a:xfrm>
          <a:prstGeom prst="ellipse">
            <a:avLst/>
          </a:prstGeom>
          <a:solidFill>
            <a:srgbClr val="4C8316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D9E80C51-0937-4894-A730-04E7726FB784}"/>
              </a:ext>
            </a:extLst>
          </p:cNvPr>
          <p:cNvSpPr/>
          <p:nvPr/>
        </p:nvSpPr>
        <p:spPr>
          <a:xfrm>
            <a:off x="482600" y="558800"/>
            <a:ext cx="11226800" cy="5562600"/>
          </a:xfrm>
          <a:prstGeom prst="roundRect">
            <a:avLst/>
          </a:prstGeom>
          <a:solidFill>
            <a:srgbClr val="FFFFFF"/>
          </a:solidFill>
          <a:ln>
            <a:solidFill>
              <a:srgbClr val="ECE4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4ECD3EB8-7340-40E5-BC7A-0D3B10DAE531}"/>
              </a:ext>
            </a:extLst>
          </p:cNvPr>
          <p:cNvSpPr/>
          <p:nvPr/>
        </p:nvSpPr>
        <p:spPr>
          <a:xfrm>
            <a:off x="812800" y="838200"/>
            <a:ext cx="1803400" cy="355600"/>
          </a:xfrm>
          <a:prstGeom prst="roundRect">
            <a:avLst/>
          </a:prstGeom>
          <a:solidFill>
            <a:srgbClr val="8AE6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6F57868-4381-40B5-9455-46314E741102}"/>
              </a:ext>
            </a:extLst>
          </p:cNvPr>
          <p:cNvSpPr txBox="1"/>
          <p:nvPr/>
        </p:nvSpPr>
        <p:spPr>
          <a:xfrm>
            <a:off x="812800" y="1244600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股癌 </a:t>
            </a:r>
            <a:r>
              <a:rPr lang="en-US" altLang="zh-TW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EP665 </a:t>
            </a:r>
            <a:r>
              <a:rPr lang="zh-TW" altLang="en-US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自我整理筆記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4E980FA-4702-46B2-97C5-B6A7E9BB75F7}"/>
              </a:ext>
            </a:extLst>
          </p:cNvPr>
          <p:cNvSpPr txBox="1"/>
          <p:nvPr/>
        </p:nvSpPr>
        <p:spPr>
          <a:xfrm>
            <a:off x="838200" y="1943100"/>
            <a:ext cx="965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整組做壞掉了 </a:t>
            </a:r>
            <a:r>
              <a:rPr lang="en-US" altLang="zh-TW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/ </a:t>
            </a:r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網路資訊整理版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72BCDA0A-81A9-4DB2-8DAF-78D3E0C85DC8}"/>
              </a:ext>
            </a:extLst>
          </p:cNvPr>
          <p:cNvSpPr/>
          <p:nvPr/>
        </p:nvSpPr>
        <p:spPr>
          <a:xfrm>
            <a:off x="939800" y="2616200"/>
            <a:ext cx="9931400" cy="29718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293D58A-BF34-43D6-AA96-581CEB6DD297}"/>
              </a:ext>
            </a:extLst>
          </p:cNvPr>
          <p:cNvSpPr/>
          <p:nvPr/>
        </p:nvSpPr>
        <p:spPr>
          <a:xfrm>
            <a:off x="1219200" y="2895600"/>
            <a:ext cx="114300" cy="2387600"/>
          </a:xfrm>
          <a:prstGeom prst="rect">
            <a:avLst/>
          </a:prstGeom>
          <a:solidFill>
            <a:srgbClr val="B06F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A924D22-56D1-4CBB-B19B-844CA0F7E6CD}"/>
              </a:ext>
            </a:extLst>
          </p:cNvPr>
          <p:cNvSpPr txBox="1"/>
          <p:nvPr/>
        </p:nvSpPr>
        <p:spPr>
          <a:xfrm>
            <a:off x="1574800" y="2844800"/>
            <a:ext cx="8890000" cy="10361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這份不是正式課堂，是把節目內容整理成自己的複習筆記。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主軸：市場噴到像整組做壞掉時，要知道自己押的是什麼故事、方法和代價。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來源：</a:t>
            </a: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Apple Podcasts / SoundOn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，逐字稿用 </a:t>
            </a: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whisper.cpp tiny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轉錄後整理。</a:t>
            </a:r>
          </a:p>
        </p:txBody>
      </p:sp>
    </p:spTree>
    <p:extLst>
      <p:ext uri="{BB962C8B-B14F-4D97-AF65-F5344CB8AC3E}">
        <p14:creationId xmlns:p14="http://schemas.microsoft.com/office/powerpoint/2010/main" val="3659996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42516CE-3A01-4B56-9C3A-C7BE6D67F3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3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5DB4A30-A3E4-4BDC-9242-AA0927D6823C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062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C78E7FF4-8CCA-41AB-A8A0-9E5862AE34FF}"/>
              </a:ext>
            </a:extLst>
          </p:cNvPr>
          <p:cNvSpPr/>
          <p:nvPr/>
        </p:nvSpPr>
        <p:spPr>
          <a:xfrm>
            <a:off x="10223500" y="431800"/>
            <a:ext cx="1041400" cy="1041400"/>
          </a:xfrm>
          <a:prstGeom prst="ellipse">
            <a:avLst/>
          </a:prstGeom>
          <a:solidFill>
            <a:srgbClr val="4C8316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4494F0EB-72FF-46FB-9DF5-A5ADDA9F6893}"/>
              </a:ext>
            </a:extLst>
          </p:cNvPr>
          <p:cNvSpPr/>
          <p:nvPr/>
        </p:nvSpPr>
        <p:spPr>
          <a:xfrm>
            <a:off x="11112500" y="1168400"/>
            <a:ext cx="635000" cy="635000"/>
          </a:xfrm>
          <a:prstGeom prst="ellipse">
            <a:avLst/>
          </a:prstGeom>
          <a:solidFill>
            <a:srgbClr val="C93565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5AC54EB0-95FE-48FB-A000-2C7F514DC7D4}"/>
              </a:ext>
            </a:extLst>
          </p:cNvPr>
          <p:cNvSpPr/>
          <p:nvPr/>
        </p:nvSpPr>
        <p:spPr>
          <a:xfrm>
            <a:off x="482600" y="558800"/>
            <a:ext cx="11226800" cy="5562600"/>
          </a:xfrm>
          <a:prstGeom prst="roundRect">
            <a:avLst/>
          </a:prstGeom>
          <a:solidFill>
            <a:srgbClr val="FFFFFF"/>
          </a:solidFill>
          <a:ln>
            <a:solidFill>
              <a:srgbClr val="ECE4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3B2E60A9-67C7-432A-BC96-F6B9F5FB2511}"/>
              </a:ext>
            </a:extLst>
          </p:cNvPr>
          <p:cNvSpPr/>
          <p:nvPr/>
        </p:nvSpPr>
        <p:spPr>
          <a:xfrm>
            <a:off x="812800" y="838200"/>
            <a:ext cx="1803400" cy="355600"/>
          </a:xfrm>
          <a:prstGeom prst="roundRect">
            <a:avLst/>
          </a:prstGeom>
          <a:solidFill>
            <a:srgbClr val="8AE6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BFDAE2F-F577-4437-B791-C07D1DBCAA7F}"/>
              </a:ext>
            </a:extLst>
          </p:cNvPr>
          <p:cNvSpPr txBox="1"/>
          <p:nvPr/>
        </p:nvSpPr>
        <p:spPr>
          <a:xfrm>
            <a:off x="812800" y="1244600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內容地圖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B3B5517-8ED8-4C92-8C8C-FD4062F06B90}"/>
              </a:ext>
            </a:extLst>
          </p:cNvPr>
          <p:cNvSpPr txBox="1"/>
          <p:nvPr/>
        </p:nvSpPr>
        <p:spPr>
          <a:xfrm>
            <a:off x="838200" y="1943100"/>
            <a:ext cx="965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這集是一包生活、題材、操作心法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D4682C5E-83DD-42A0-8830-089ED79C3B32}"/>
              </a:ext>
            </a:extLst>
          </p:cNvPr>
          <p:cNvSpPr/>
          <p:nvPr/>
        </p:nvSpPr>
        <p:spPr>
          <a:xfrm>
            <a:off x="939800" y="2616200"/>
            <a:ext cx="9931400" cy="29718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9D0E14-AAED-4712-AF25-6C1ABB46666E}"/>
              </a:ext>
            </a:extLst>
          </p:cNvPr>
          <p:cNvSpPr/>
          <p:nvPr/>
        </p:nvSpPr>
        <p:spPr>
          <a:xfrm>
            <a:off x="1219200" y="2895600"/>
            <a:ext cx="114300" cy="2387600"/>
          </a:xfrm>
          <a:prstGeom prst="rect">
            <a:avLst/>
          </a:prstGeom>
          <a:solidFill>
            <a:srgbClr val="0062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51B1925-5555-40C9-B4C3-09ED84097FC1}"/>
              </a:ext>
            </a:extLst>
          </p:cNvPr>
          <p:cNvSpPr txBox="1"/>
          <p:nvPr/>
        </p:nvSpPr>
        <p:spPr>
          <a:xfrm>
            <a:off x="1574800" y="2844800"/>
            <a:ext cx="8890000" cy="10361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生活：高溫運動、身體極限、親子陪伴、孩子天賦。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市場：被動元件、台積電分紅、</a:t>
            </a: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SpaceX IPO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、衛星 </a:t>
            </a: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AI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運算。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心法：被洗掉、停損、錯過、習慣失去。</a:t>
            </a:r>
          </a:p>
        </p:txBody>
      </p:sp>
    </p:spTree>
    <p:extLst>
      <p:ext uri="{BB962C8B-B14F-4D97-AF65-F5344CB8AC3E}">
        <p14:creationId xmlns:p14="http://schemas.microsoft.com/office/powerpoint/2010/main" val="294813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D247E83-6FAC-493B-8130-2D89C46CD15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EF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32A9D91-27B3-4BA7-B709-E6080D9B25D9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4C83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4EC59634-F1D7-45FE-9294-2B97BC2F0667}"/>
              </a:ext>
            </a:extLst>
          </p:cNvPr>
          <p:cNvSpPr/>
          <p:nvPr/>
        </p:nvSpPr>
        <p:spPr>
          <a:xfrm>
            <a:off x="10223500" y="431800"/>
            <a:ext cx="1041400" cy="1041400"/>
          </a:xfrm>
          <a:prstGeom prst="ellipse">
            <a:avLst/>
          </a:prstGeom>
          <a:solidFill>
            <a:srgbClr val="C93565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6A1CA3C7-71BC-4D41-8802-C3932BBB0887}"/>
              </a:ext>
            </a:extLst>
          </p:cNvPr>
          <p:cNvSpPr/>
          <p:nvPr/>
        </p:nvSpPr>
        <p:spPr>
          <a:xfrm>
            <a:off x="11112500" y="1168400"/>
            <a:ext cx="635000" cy="635000"/>
          </a:xfrm>
          <a:prstGeom prst="ellipse">
            <a:avLst/>
          </a:prstGeom>
          <a:solidFill>
            <a:srgbClr val="1823B4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47DD4093-9E79-45A3-8A2B-D9CF3C10C92A}"/>
              </a:ext>
            </a:extLst>
          </p:cNvPr>
          <p:cNvSpPr/>
          <p:nvPr/>
        </p:nvSpPr>
        <p:spPr>
          <a:xfrm>
            <a:off x="482600" y="558800"/>
            <a:ext cx="11226800" cy="5562600"/>
          </a:xfrm>
          <a:prstGeom prst="roundRect">
            <a:avLst/>
          </a:prstGeom>
          <a:solidFill>
            <a:srgbClr val="FFFFFF"/>
          </a:solidFill>
          <a:ln>
            <a:solidFill>
              <a:srgbClr val="ECE4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1D3075C9-4B3D-406B-9B7B-A36312924B5F}"/>
              </a:ext>
            </a:extLst>
          </p:cNvPr>
          <p:cNvSpPr/>
          <p:nvPr/>
        </p:nvSpPr>
        <p:spPr>
          <a:xfrm>
            <a:off x="812800" y="838200"/>
            <a:ext cx="1803400" cy="355600"/>
          </a:xfrm>
          <a:prstGeom prst="roundRect">
            <a:avLst/>
          </a:prstGeom>
          <a:solidFill>
            <a:srgbClr val="8AE6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A4E6986-1BD8-44FE-B6CC-1439D1DDA846}"/>
              </a:ext>
            </a:extLst>
          </p:cNvPr>
          <p:cNvSpPr txBox="1"/>
          <p:nvPr/>
        </p:nvSpPr>
        <p:spPr>
          <a:xfrm>
            <a:off x="812800" y="1244600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身體不是拿來硬幹到壞掉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AC58A05-A351-4C6E-A380-E4C7666A0B6E}"/>
              </a:ext>
            </a:extLst>
          </p:cNvPr>
          <p:cNvSpPr txBox="1"/>
          <p:nvPr/>
        </p:nvSpPr>
        <p:spPr>
          <a:xfrm>
            <a:off x="838200" y="1943100"/>
            <a:ext cx="965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高溫運動和投資其實有點像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8263940-964F-423D-A83E-3D10347C4DF3}"/>
              </a:ext>
            </a:extLst>
          </p:cNvPr>
          <p:cNvSpPr/>
          <p:nvPr/>
        </p:nvSpPr>
        <p:spPr>
          <a:xfrm>
            <a:off x="939800" y="2616200"/>
            <a:ext cx="9931400" cy="29718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07E1C8E-23F1-44FF-BBA9-168232002A45}"/>
              </a:ext>
            </a:extLst>
          </p:cNvPr>
          <p:cNvSpPr/>
          <p:nvPr/>
        </p:nvSpPr>
        <p:spPr>
          <a:xfrm>
            <a:off x="1219200" y="2895600"/>
            <a:ext cx="114300" cy="2387600"/>
          </a:xfrm>
          <a:prstGeom prst="rect">
            <a:avLst/>
          </a:prstGeom>
          <a:solidFill>
            <a:srgbClr val="4C83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B5D912E-7D92-462F-A0F1-D8A3B9B3872B}"/>
              </a:ext>
            </a:extLst>
          </p:cNvPr>
          <p:cNvSpPr txBox="1"/>
          <p:nvPr/>
        </p:nvSpPr>
        <p:spPr>
          <a:xfrm>
            <a:off x="1574800" y="2844800"/>
            <a:ext cx="8890000" cy="14157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下午三點半打網球，熱到最後十五分鐘直接停下來。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以前會用少睡、少吃、硬撐來要求自己。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教練提醒：做到死不會讓效果更好。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投資也是：硬扛不是紀律，能長期留在市場才是能力。</a:t>
            </a:r>
          </a:p>
        </p:txBody>
      </p:sp>
    </p:spTree>
    <p:extLst>
      <p:ext uri="{BB962C8B-B14F-4D97-AF65-F5344CB8AC3E}">
        <p14:creationId xmlns:p14="http://schemas.microsoft.com/office/powerpoint/2010/main" val="1305103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E099154-A5FE-4E19-9890-BF4849B532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8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BC7E658-0422-44EF-BF2B-2A92433831B1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C9356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F9DD6583-84D0-44C3-B57A-FAF24FC76D57}"/>
              </a:ext>
            </a:extLst>
          </p:cNvPr>
          <p:cNvSpPr/>
          <p:nvPr/>
        </p:nvSpPr>
        <p:spPr>
          <a:xfrm>
            <a:off x="10223500" y="431800"/>
            <a:ext cx="1041400" cy="1041400"/>
          </a:xfrm>
          <a:prstGeom prst="ellipse">
            <a:avLst/>
          </a:prstGeom>
          <a:solidFill>
            <a:srgbClr val="1823B4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42FE0D40-34ED-4775-B799-8B86C2C767C3}"/>
              </a:ext>
            </a:extLst>
          </p:cNvPr>
          <p:cNvSpPr/>
          <p:nvPr/>
        </p:nvSpPr>
        <p:spPr>
          <a:xfrm>
            <a:off x="11112500" y="1168400"/>
            <a:ext cx="635000" cy="635000"/>
          </a:xfrm>
          <a:prstGeom prst="ellipse">
            <a:avLst/>
          </a:prstGeom>
          <a:solidFill>
            <a:srgbClr val="7F7408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C8946AE2-7A1E-4965-BB94-ABFA3FF13E3A}"/>
              </a:ext>
            </a:extLst>
          </p:cNvPr>
          <p:cNvSpPr/>
          <p:nvPr/>
        </p:nvSpPr>
        <p:spPr>
          <a:xfrm>
            <a:off x="482600" y="558800"/>
            <a:ext cx="11226800" cy="5562600"/>
          </a:xfrm>
          <a:prstGeom prst="roundRect">
            <a:avLst/>
          </a:prstGeom>
          <a:solidFill>
            <a:srgbClr val="FFFFFF"/>
          </a:solidFill>
          <a:ln>
            <a:solidFill>
              <a:srgbClr val="ECE4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0DCCD04F-B4B1-42D0-B038-777D3224BB3A}"/>
              </a:ext>
            </a:extLst>
          </p:cNvPr>
          <p:cNvSpPr/>
          <p:nvPr/>
        </p:nvSpPr>
        <p:spPr>
          <a:xfrm>
            <a:off x="812800" y="838200"/>
            <a:ext cx="1803400" cy="355600"/>
          </a:xfrm>
          <a:prstGeom prst="roundRect">
            <a:avLst/>
          </a:prstGeom>
          <a:solidFill>
            <a:srgbClr val="8AE6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9B63E35-8F77-4ED4-8C3A-920BC4B4872A}"/>
              </a:ext>
            </a:extLst>
          </p:cNvPr>
          <p:cNvSpPr txBox="1"/>
          <p:nvPr/>
        </p:nvSpPr>
        <p:spPr>
          <a:xfrm>
            <a:off x="812800" y="1244600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親子陪伴與天賦觀察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1499985-BCB5-4E75-81AE-AFDD2F418325}"/>
              </a:ext>
            </a:extLst>
          </p:cNvPr>
          <p:cNvSpPr txBox="1"/>
          <p:nvPr/>
        </p:nvSpPr>
        <p:spPr>
          <a:xfrm>
            <a:off x="838200" y="1943100"/>
            <a:ext cx="965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陪孩子玩，也是在看他怎麼長出自己的樣子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61CEEF75-589B-4DAA-99E6-FA229FA1EE46}"/>
              </a:ext>
            </a:extLst>
          </p:cNvPr>
          <p:cNvSpPr/>
          <p:nvPr/>
        </p:nvSpPr>
        <p:spPr>
          <a:xfrm>
            <a:off x="939800" y="2616200"/>
            <a:ext cx="9931400" cy="29718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B46F7A2-560A-488B-9AB6-B28E0C1CF47F}"/>
              </a:ext>
            </a:extLst>
          </p:cNvPr>
          <p:cNvSpPr/>
          <p:nvPr/>
        </p:nvSpPr>
        <p:spPr>
          <a:xfrm>
            <a:off x="1219200" y="2895600"/>
            <a:ext cx="114300" cy="2387600"/>
          </a:xfrm>
          <a:prstGeom prst="rect">
            <a:avLst/>
          </a:prstGeom>
          <a:solidFill>
            <a:srgbClr val="C9356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55D2F91-0A1E-45AE-AFAD-FD2AD946AE3C}"/>
              </a:ext>
            </a:extLst>
          </p:cNvPr>
          <p:cNvSpPr txBox="1"/>
          <p:nvPr/>
        </p:nvSpPr>
        <p:spPr>
          <a:xfrm>
            <a:off x="1574800" y="2844800"/>
            <a:ext cx="8890000" cy="14157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陪孩子打機台，連到自己小時候的柑仔店記憶。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陪伴不是控制，而是一起進入孩子的世界。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孩子對聲音敏感，可能有聽覺或音感天賦。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做法：先觀察、低壓推進，不把家長期待包裝成天賦。</a:t>
            </a:r>
          </a:p>
        </p:txBody>
      </p:sp>
    </p:spTree>
    <p:extLst>
      <p:ext uri="{BB962C8B-B14F-4D97-AF65-F5344CB8AC3E}">
        <p14:creationId xmlns:p14="http://schemas.microsoft.com/office/powerpoint/2010/main" val="3648448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EFD2CE8-EE10-45B2-909A-0E2D296C9D9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E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AAEF10-8A7F-41FD-AFB6-403C73B3F5AE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823B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B43E56A5-3E23-4821-A5E3-56D0B1E94916}"/>
              </a:ext>
            </a:extLst>
          </p:cNvPr>
          <p:cNvSpPr/>
          <p:nvPr/>
        </p:nvSpPr>
        <p:spPr>
          <a:xfrm>
            <a:off x="10223500" y="431800"/>
            <a:ext cx="1041400" cy="1041400"/>
          </a:xfrm>
          <a:prstGeom prst="ellipse">
            <a:avLst/>
          </a:prstGeom>
          <a:solidFill>
            <a:srgbClr val="7F7408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67A65CDE-224E-4E9F-B2EC-9BF68F4CD7E8}"/>
              </a:ext>
            </a:extLst>
          </p:cNvPr>
          <p:cNvSpPr/>
          <p:nvPr/>
        </p:nvSpPr>
        <p:spPr>
          <a:xfrm>
            <a:off x="11112500" y="1168400"/>
            <a:ext cx="635000" cy="635000"/>
          </a:xfrm>
          <a:prstGeom prst="ellipse">
            <a:avLst/>
          </a:prstGeom>
          <a:solidFill>
            <a:srgbClr val="B06F2F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25A2E7FE-2D5B-4F2C-8F3E-FAD71DCAE25E}"/>
              </a:ext>
            </a:extLst>
          </p:cNvPr>
          <p:cNvSpPr/>
          <p:nvPr/>
        </p:nvSpPr>
        <p:spPr>
          <a:xfrm>
            <a:off x="482600" y="558800"/>
            <a:ext cx="11226800" cy="5562600"/>
          </a:xfrm>
          <a:prstGeom prst="roundRect">
            <a:avLst/>
          </a:prstGeom>
          <a:solidFill>
            <a:srgbClr val="FFFFFF"/>
          </a:solidFill>
          <a:ln>
            <a:solidFill>
              <a:srgbClr val="ECE4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6E13936B-4837-4CBD-9108-287FD9D27107}"/>
              </a:ext>
            </a:extLst>
          </p:cNvPr>
          <p:cNvSpPr/>
          <p:nvPr/>
        </p:nvSpPr>
        <p:spPr>
          <a:xfrm>
            <a:off x="812800" y="838200"/>
            <a:ext cx="1803400" cy="355600"/>
          </a:xfrm>
          <a:prstGeom prst="roundRect">
            <a:avLst/>
          </a:prstGeom>
          <a:solidFill>
            <a:srgbClr val="8AE6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00E9EFD-CA40-4852-941E-7F44DD5D5E49}"/>
              </a:ext>
            </a:extLst>
          </p:cNvPr>
          <p:cNvSpPr txBox="1"/>
          <p:nvPr/>
        </p:nvSpPr>
        <p:spPr>
          <a:xfrm>
            <a:off x="812800" y="1244600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被動元件整組做壞掉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419AAD5-4647-4999-85CB-8CB9618227F1}"/>
              </a:ext>
            </a:extLst>
          </p:cNvPr>
          <p:cNvSpPr txBox="1"/>
          <p:nvPr/>
        </p:nvSpPr>
        <p:spPr>
          <a:xfrm>
            <a:off x="838200" y="1943100"/>
            <a:ext cx="965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一直噴，整理一下又繼續噴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01EC8184-3FCA-40A2-A3E2-9D56538AB6B4}"/>
              </a:ext>
            </a:extLst>
          </p:cNvPr>
          <p:cNvSpPr/>
          <p:nvPr/>
        </p:nvSpPr>
        <p:spPr>
          <a:xfrm>
            <a:off x="939800" y="2616200"/>
            <a:ext cx="9931400" cy="29718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C1CDE82-AD27-40A1-9379-6E29CEDA38CC}"/>
              </a:ext>
            </a:extLst>
          </p:cNvPr>
          <p:cNvSpPr/>
          <p:nvPr/>
        </p:nvSpPr>
        <p:spPr>
          <a:xfrm>
            <a:off x="1219200" y="2895600"/>
            <a:ext cx="114300" cy="2387600"/>
          </a:xfrm>
          <a:prstGeom prst="rect">
            <a:avLst/>
          </a:prstGeom>
          <a:solidFill>
            <a:srgbClr val="1823B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18B8D31-5523-4863-84D9-27DE7F0C0D9A}"/>
              </a:ext>
            </a:extLst>
          </p:cNvPr>
          <p:cNvSpPr txBox="1"/>
          <p:nvPr/>
        </p:nvSpPr>
        <p:spPr>
          <a:xfrm>
            <a:off x="1574800" y="2844800"/>
            <a:ext cx="8890000" cy="14157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國巨對外說明提到 </a:t>
            </a: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BB ratio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拉高。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特規品和標準品稼動率改善。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不能只看台灣單一公司，要看全球同業是否同步。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若 </a:t>
            </a: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Vishay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、日本、中國相關公司都動，比較像產業循環。</a:t>
            </a:r>
          </a:p>
        </p:txBody>
      </p:sp>
    </p:spTree>
    <p:extLst>
      <p:ext uri="{BB962C8B-B14F-4D97-AF65-F5344CB8AC3E}">
        <p14:creationId xmlns:p14="http://schemas.microsoft.com/office/powerpoint/2010/main" val="946832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6C1D6F1-B042-485F-B1BA-066F6350761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D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74E403-FB60-4DB3-BEE2-6D682DF21002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F740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348469A7-C935-4F1D-9341-C829CB2740AA}"/>
              </a:ext>
            </a:extLst>
          </p:cNvPr>
          <p:cNvSpPr/>
          <p:nvPr/>
        </p:nvSpPr>
        <p:spPr>
          <a:xfrm>
            <a:off x="10223500" y="431800"/>
            <a:ext cx="1041400" cy="1041400"/>
          </a:xfrm>
          <a:prstGeom prst="ellipse">
            <a:avLst/>
          </a:prstGeom>
          <a:solidFill>
            <a:srgbClr val="B06F2F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08F380C8-0433-4E7E-9A3B-806B1F61CC3C}"/>
              </a:ext>
            </a:extLst>
          </p:cNvPr>
          <p:cNvSpPr/>
          <p:nvPr/>
        </p:nvSpPr>
        <p:spPr>
          <a:xfrm>
            <a:off x="11112500" y="1168400"/>
            <a:ext cx="635000" cy="635000"/>
          </a:xfrm>
          <a:prstGeom prst="ellipse">
            <a:avLst/>
          </a:prstGeom>
          <a:solidFill>
            <a:srgbClr val="0062A6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FE1BAAB9-1E51-4CC6-A4C7-96791E339402}"/>
              </a:ext>
            </a:extLst>
          </p:cNvPr>
          <p:cNvSpPr/>
          <p:nvPr/>
        </p:nvSpPr>
        <p:spPr>
          <a:xfrm>
            <a:off x="482600" y="558800"/>
            <a:ext cx="11226800" cy="5562600"/>
          </a:xfrm>
          <a:prstGeom prst="roundRect">
            <a:avLst/>
          </a:prstGeom>
          <a:solidFill>
            <a:srgbClr val="FFFFFF"/>
          </a:solidFill>
          <a:ln>
            <a:solidFill>
              <a:srgbClr val="ECE4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8AD76355-8932-44CD-A8E3-64DA6652C8DB}"/>
              </a:ext>
            </a:extLst>
          </p:cNvPr>
          <p:cNvSpPr/>
          <p:nvPr/>
        </p:nvSpPr>
        <p:spPr>
          <a:xfrm>
            <a:off x="812800" y="838200"/>
            <a:ext cx="1803400" cy="355600"/>
          </a:xfrm>
          <a:prstGeom prst="roundRect">
            <a:avLst/>
          </a:prstGeom>
          <a:solidFill>
            <a:srgbClr val="8AE6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FF73A76-9C3D-4643-A788-614DEDD47BE5}"/>
              </a:ext>
            </a:extLst>
          </p:cNvPr>
          <p:cNvSpPr txBox="1"/>
          <p:nvPr/>
        </p:nvSpPr>
        <p:spPr>
          <a:xfrm>
            <a:off x="812800" y="1244600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被動元件分析框架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8F82F61-5410-4755-B9E7-5B6E4D773865}"/>
              </a:ext>
            </a:extLst>
          </p:cNvPr>
          <p:cNvSpPr txBox="1"/>
          <p:nvPr/>
        </p:nvSpPr>
        <p:spPr>
          <a:xfrm>
            <a:off x="838200" y="1943100"/>
            <a:ext cx="965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用 </a:t>
            </a:r>
            <a:r>
              <a:rPr lang="en-US" altLang="zh-TW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2018 </a:t>
            </a:r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年當對照，不只看股價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B0B99ECF-7DD9-442E-B75B-1F61EF60F334}"/>
              </a:ext>
            </a:extLst>
          </p:cNvPr>
          <p:cNvSpPr/>
          <p:nvPr/>
        </p:nvSpPr>
        <p:spPr>
          <a:xfrm>
            <a:off x="939800" y="2616200"/>
            <a:ext cx="9931400" cy="29718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9D836C2-42C0-436E-9F93-139DAF03AE6F}"/>
              </a:ext>
            </a:extLst>
          </p:cNvPr>
          <p:cNvSpPr/>
          <p:nvPr/>
        </p:nvSpPr>
        <p:spPr>
          <a:xfrm>
            <a:off x="1219200" y="2895600"/>
            <a:ext cx="114300" cy="2387600"/>
          </a:xfrm>
          <a:prstGeom prst="rect">
            <a:avLst/>
          </a:prstGeom>
          <a:solidFill>
            <a:srgbClr val="7F740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61399D2-106D-428F-A173-F9AC6A3DACA4}"/>
              </a:ext>
            </a:extLst>
          </p:cNvPr>
          <p:cNvSpPr txBox="1"/>
          <p:nvPr/>
        </p:nvSpPr>
        <p:spPr>
          <a:xfrm>
            <a:off x="1574800" y="2844800"/>
            <a:ext cx="8890000" cy="14157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這次是真缺貨，還是短期拉貨？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漲價速度比 </a:t>
            </a: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2018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年快還慢？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毛利率和 </a:t>
            </a: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EPS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能不能跟上股價？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股價反映今年、明年，還是更遠的夢？</a:t>
            </a:r>
          </a:p>
        </p:txBody>
      </p:sp>
    </p:spTree>
    <p:extLst>
      <p:ext uri="{BB962C8B-B14F-4D97-AF65-F5344CB8AC3E}">
        <p14:creationId xmlns:p14="http://schemas.microsoft.com/office/powerpoint/2010/main" val="2939178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597A5F2-8C83-4EA1-A637-622724BF2F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DCBAD76-A87E-474D-973D-CA503E4D2D64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B06F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BE4EF9D0-2C44-4100-A435-12C6B938FE03}"/>
              </a:ext>
            </a:extLst>
          </p:cNvPr>
          <p:cNvSpPr/>
          <p:nvPr/>
        </p:nvSpPr>
        <p:spPr>
          <a:xfrm>
            <a:off x="10223500" y="431800"/>
            <a:ext cx="1041400" cy="1041400"/>
          </a:xfrm>
          <a:prstGeom prst="ellipse">
            <a:avLst/>
          </a:prstGeom>
          <a:solidFill>
            <a:srgbClr val="0062A6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C9113F6E-F4C5-4CD8-99DF-08F8D2B53E42}"/>
              </a:ext>
            </a:extLst>
          </p:cNvPr>
          <p:cNvSpPr/>
          <p:nvPr/>
        </p:nvSpPr>
        <p:spPr>
          <a:xfrm>
            <a:off x="11112500" y="1168400"/>
            <a:ext cx="635000" cy="635000"/>
          </a:xfrm>
          <a:prstGeom prst="ellipse">
            <a:avLst/>
          </a:prstGeom>
          <a:solidFill>
            <a:srgbClr val="4C8316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51586B17-4293-4355-B916-937F6F8A3BB7}"/>
              </a:ext>
            </a:extLst>
          </p:cNvPr>
          <p:cNvSpPr/>
          <p:nvPr/>
        </p:nvSpPr>
        <p:spPr>
          <a:xfrm>
            <a:off x="482600" y="558800"/>
            <a:ext cx="11226800" cy="5562600"/>
          </a:xfrm>
          <a:prstGeom prst="roundRect">
            <a:avLst/>
          </a:prstGeom>
          <a:solidFill>
            <a:srgbClr val="FFFFFF"/>
          </a:solidFill>
          <a:ln>
            <a:solidFill>
              <a:srgbClr val="ECE4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123762A3-7C8D-4405-9DF2-7C8FEEC3530C}"/>
              </a:ext>
            </a:extLst>
          </p:cNvPr>
          <p:cNvSpPr/>
          <p:nvPr/>
        </p:nvSpPr>
        <p:spPr>
          <a:xfrm>
            <a:off x="812800" y="838200"/>
            <a:ext cx="1803400" cy="355600"/>
          </a:xfrm>
          <a:prstGeom prst="roundRect">
            <a:avLst/>
          </a:prstGeom>
          <a:solidFill>
            <a:srgbClr val="8AE6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DC14490-AA09-4F24-A9D4-E22E8E37AEBF}"/>
              </a:ext>
            </a:extLst>
          </p:cNvPr>
          <p:cNvSpPr txBox="1"/>
          <p:nvPr/>
        </p:nvSpPr>
        <p:spPr>
          <a:xfrm>
            <a:off x="812800" y="1244600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台積電分紅與公司週期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900BF77-BC4A-4B18-940C-EE22BA458A63}"/>
              </a:ext>
            </a:extLst>
          </p:cNvPr>
          <p:cNvSpPr txBox="1"/>
          <p:nvPr/>
        </p:nvSpPr>
        <p:spPr>
          <a:xfrm>
            <a:off x="838200" y="1943100"/>
            <a:ext cx="965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短期不爽，長期是不是仍然好？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AF210C5C-63C7-41C8-A963-1D3722119047}"/>
              </a:ext>
            </a:extLst>
          </p:cNvPr>
          <p:cNvSpPr/>
          <p:nvPr/>
        </p:nvSpPr>
        <p:spPr>
          <a:xfrm>
            <a:off x="939800" y="2616200"/>
            <a:ext cx="9931400" cy="29718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4B68E1D-460A-4AC8-8A69-A98462F7172A}"/>
              </a:ext>
            </a:extLst>
          </p:cNvPr>
          <p:cNvSpPr/>
          <p:nvPr/>
        </p:nvSpPr>
        <p:spPr>
          <a:xfrm>
            <a:off x="1219200" y="2895600"/>
            <a:ext cx="114300" cy="2387600"/>
          </a:xfrm>
          <a:prstGeom prst="rect">
            <a:avLst/>
          </a:prstGeom>
          <a:solidFill>
            <a:srgbClr val="B06F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093529B-D2E3-42A6-BAA7-C22E411BA504}"/>
              </a:ext>
            </a:extLst>
          </p:cNvPr>
          <p:cNvSpPr txBox="1"/>
          <p:nvPr/>
        </p:nvSpPr>
        <p:spPr>
          <a:xfrm>
            <a:off x="1574800" y="2844800"/>
            <a:ext cx="8890000" cy="14157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分紅比例引發討論，主持人理解員工抱怨。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但在台灣，很難找到比台積電更好的長期選擇。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類比聯發科：前幾年看似軟掉，後來因 </a:t>
            </a: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AI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動能走出來。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重點：分辨短期技術性調整，還是競爭力真的壞掉。</a:t>
            </a:r>
          </a:p>
        </p:txBody>
      </p:sp>
    </p:spTree>
    <p:extLst>
      <p:ext uri="{BB962C8B-B14F-4D97-AF65-F5344CB8AC3E}">
        <p14:creationId xmlns:p14="http://schemas.microsoft.com/office/powerpoint/2010/main" val="2148633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4F38B9C-5D26-4E82-A147-AB1E78D22E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3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BD0C63-7A50-408D-B55B-F1C51FB17650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062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5C109DB5-3B6D-4ED3-AD8B-C4CAEDB96442}"/>
              </a:ext>
            </a:extLst>
          </p:cNvPr>
          <p:cNvSpPr/>
          <p:nvPr/>
        </p:nvSpPr>
        <p:spPr>
          <a:xfrm>
            <a:off x="10223500" y="431800"/>
            <a:ext cx="1041400" cy="1041400"/>
          </a:xfrm>
          <a:prstGeom prst="ellipse">
            <a:avLst/>
          </a:prstGeom>
          <a:solidFill>
            <a:srgbClr val="4C8316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94099889-E438-4BB3-B8E9-EC1CF004E81F}"/>
              </a:ext>
            </a:extLst>
          </p:cNvPr>
          <p:cNvSpPr/>
          <p:nvPr/>
        </p:nvSpPr>
        <p:spPr>
          <a:xfrm>
            <a:off x="11112500" y="1168400"/>
            <a:ext cx="635000" cy="635000"/>
          </a:xfrm>
          <a:prstGeom prst="ellipse">
            <a:avLst/>
          </a:prstGeom>
          <a:solidFill>
            <a:srgbClr val="C93565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571DDB54-1233-4FEA-AF91-2BD1C4998AA2}"/>
              </a:ext>
            </a:extLst>
          </p:cNvPr>
          <p:cNvSpPr/>
          <p:nvPr/>
        </p:nvSpPr>
        <p:spPr>
          <a:xfrm>
            <a:off x="482600" y="558800"/>
            <a:ext cx="11226800" cy="5562600"/>
          </a:xfrm>
          <a:prstGeom prst="roundRect">
            <a:avLst/>
          </a:prstGeom>
          <a:solidFill>
            <a:srgbClr val="FFFFFF"/>
          </a:solidFill>
          <a:ln>
            <a:solidFill>
              <a:srgbClr val="ECE4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F2A7429B-2F5D-4887-AE7E-861FD8856E6F}"/>
              </a:ext>
            </a:extLst>
          </p:cNvPr>
          <p:cNvSpPr/>
          <p:nvPr/>
        </p:nvSpPr>
        <p:spPr>
          <a:xfrm>
            <a:off x="812800" y="838200"/>
            <a:ext cx="1803400" cy="355600"/>
          </a:xfrm>
          <a:prstGeom prst="roundRect">
            <a:avLst/>
          </a:prstGeom>
          <a:solidFill>
            <a:srgbClr val="8AE6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C70BF59-6EFC-4405-84BA-79274F93C790}"/>
              </a:ext>
            </a:extLst>
          </p:cNvPr>
          <p:cNvSpPr txBox="1"/>
          <p:nvPr/>
        </p:nvSpPr>
        <p:spPr>
          <a:xfrm>
            <a:off x="812800" y="1244600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TW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SpaceX IPO </a:t>
            </a:r>
            <a:r>
              <a:rPr lang="zh-TW" altLang="en-US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與先卡位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B09FAF0-613B-4D8E-97D9-36817AF60519}"/>
              </a:ext>
            </a:extLst>
          </p:cNvPr>
          <p:cNvSpPr txBox="1"/>
          <p:nvPr/>
        </p:nvSpPr>
        <p:spPr>
          <a:xfrm>
            <a:off x="838200" y="1943100"/>
            <a:ext cx="965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不是無腦重壓，是先取得 </a:t>
            </a:r>
            <a:r>
              <a:rPr lang="en-US" altLang="zh-TW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reference</a:t>
            </a:r>
            <a:endParaRPr lang="zh-TW" altLang="en-US" sz="1500">
              <a:solidFill>
                <a:srgbClr val="80726B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4F8AB043-991B-44F3-9F6B-588A59D1BD02}"/>
              </a:ext>
            </a:extLst>
          </p:cNvPr>
          <p:cNvSpPr/>
          <p:nvPr/>
        </p:nvSpPr>
        <p:spPr>
          <a:xfrm>
            <a:off x="939800" y="2616200"/>
            <a:ext cx="9931400" cy="29718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E50B8F7-EA8F-48C7-BCFA-E2DF289130BA}"/>
              </a:ext>
            </a:extLst>
          </p:cNvPr>
          <p:cNvSpPr/>
          <p:nvPr/>
        </p:nvSpPr>
        <p:spPr>
          <a:xfrm>
            <a:off x="1219200" y="2895600"/>
            <a:ext cx="114300" cy="2387600"/>
          </a:xfrm>
          <a:prstGeom prst="rect">
            <a:avLst/>
          </a:prstGeom>
          <a:solidFill>
            <a:srgbClr val="0062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29AC9AE-CAAC-44C2-A18A-91CCFF3BCC6C}"/>
              </a:ext>
            </a:extLst>
          </p:cNvPr>
          <p:cNvSpPr txBox="1"/>
          <p:nvPr/>
        </p:nvSpPr>
        <p:spPr>
          <a:xfrm>
            <a:off x="1574800" y="2844800"/>
            <a:ext cx="8890000" cy="14157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若 </a:t>
            </a: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SpaceX IPO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，主持人傾向不管價格先上車一點。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保守：先卡兩成；積極：先卡一半，再看後續。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前提：知道自己押的是什麼故事，也接受估值可能很貴。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有部位，才會逼自己持續追蹤。</a:t>
            </a:r>
          </a:p>
        </p:txBody>
      </p:sp>
    </p:spTree>
    <p:extLst>
      <p:ext uri="{BB962C8B-B14F-4D97-AF65-F5344CB8AC3E}">
        <p14:creationId xmlns:p14="http://schemas.microsoft.com/office/powerpoint/2010/main" val="2200447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9812DAC-18BD-46D0-A8FD-8577204404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EF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C5E41DF-2400-4CAF-A093-7B11433C0FA6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4C83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EDA3F053-3937-4DAF-90FF-3CC4C94C23A3}"/>
              </a:ext>
            </a:extLst>
          </p:cNvPr>
          <p:cNvSpPr/>
          <p:nvPr/>
        </p:nvSpPr>
        <p:spPr>
          <a:xfrm>
            <a:off x="10223500" y="431800"/>
            <a:ext cx="1041400" cy="1041400"/>
          </a:xfrm>
          <a:prstGeom prst="ellipse">
            <a:avLst/>
          </a:prstGeom>
          <a:solidFill>
            <a:srgbClr val="C93565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7444852D-CECD-4A27-8B4C-FF4EB60BC17A}"/>
              </a:ext>
            </a:extLst>
          </p:cNvPr>
          <p:cNvSpPr/>
          <p:nvPr/>
        </p:nvSpPr>
        <p:spPr>
          <a:xfrm>
            <a:off x="11112500" y="1168400"/>
            <a:ext cx="635000" cy="635000"/>
          </a:xfrm>
          <a:prstGeom prst="ellipse">
            <a:avLst/>
          </a:prstGeom>
          <a:solidFill>
            <a:srgbClr val="1823B4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B169C284-F35D-47A7-AD51-AAA8C7916594}"/>
              </a:ext>
            </a:extLst>
          </p:cNvPr>
          <p:cNvSpPr/>
          <p:nvPr/>
        </p:nvSpPr>
        <p:spPr>
          <a:xfrm>
            <a:off x="482600" y="558800"/>
            <a:ext cx="11226800" cy="5562600"/>
          </a:xfrm>
          <a:prstGeom prst="roundRect">
            <a:avLst/>
          </a:prstGeom>
          <a:solidFill>
            <a:srgbClr val="FFFFFF"/>
          </a:solidFill>
          <a:ln>
            <a:solidFill>
              <a:srgbClr val="ECE4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AD2D940A-0BBC-4D65-8617-D86A0A0689D8}"/>
              </a:ext>
            </a:extLst>
          </p:cNvPr>
          <p:cNvSpPr/>
          <p:nvPr/>
        </p:nvSpPr>
        <p:spPr>
          <a:xfrm>
            <a:off x="812800" y="838200"/>
            <a:ext cx="1803400" cy="355600"/>
          </a:xfrm>
          <a:prstGeom prst="roundRect">
            <a:avLst/>
          </a:prstGeom>
          <a:solidFill>
            <a:srgbClr val="8AE6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05C4564-134E-4CE6-AE3F-C3E5F40331CF}"/>
              </a:ext>
            </a:extLst>
          </p:cNvPr>
          <p:cNvSpPr txBox="1"/>
          <p:nvPr/>
        </p:nvSpPr>
        <p:spPr>
          <a:xfrm>
            <a:off x="812800" y="1244600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長期投資不是一次決定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845855E-48CF-446F-93C0-810C8AA49B04}"/>
              </a:ext>
            </a:extLst>
          </p:cNvPr>
          <p:cNvSpPr txBox="1"/>
          <p:nvPr/>
        </p:nvSpPr>
        <p:spPr>
          <a:xfrm>
            <a:off x="838200" y="1943100"/>
            <a:ext cx="965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公司會變，投資 </a:t>
            </a:r>
            <a:r>
              <a:rPr lang="en-US" altLang="zh-TW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thesis </a:t>
            </a:r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也要重檢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05169E85-57A4-4AF4-8740-E3BF2D6D8AE1}"/>
              </a:ext>
            </a:extLst>
          </p:cNvPr>
          <p:cNvSpPr/>
          <p:nvPr/>
        </p:nvSpPr>
        <p:spPr>
          <a:xfrm>
            <a:off x="939800" y="2616200"/>
            <a:ext cx="9931400" cy="29718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8683B04-272E-421C-85AF-C0FE58AC9577}"/>
              </a:ext>
            </a:extLst>
          </p:cNvPr>
          <p:cNvSpPr/>
          <p:nvPr/>
        </p:nvSpPr>
        <p:spPr>
          <a:xfrm>
            <a:off x="1219200" y="2895600"/>
            <a:ext cx="114300" cy="2387600"/>
          </a:xfrm>
          <a:prstGeom prst="rect">
            <a:avLst/>
          </a:prstGeom>
          <a:solidFill>
            <a:srgbClr val="4C83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9965C42-DE5A-4F03-885C-6E992E74FB53}"/>
              </a:ext>
            </a:extLst>
          </p:cNvPr>
          <p:cNvSpPr txBox="1"/>
          <p:nvPr/>
        </p:nvSpPr>
        <p:spPr>
          <a:xfrm>
            <a:off x="1574800" y="2844800"/>
            <a:ext cx="8890000" cy="14157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Tesla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以前看電動車出貨，後來看能源、</a:t>
            </a: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Optimus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、自駕。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Nvidia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以前看顯示卡，後來變成 </a:t>
            </a: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AI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系統與資料中心平台。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每次檢視部位時，都在重新決定要不要繼續持有。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持有本身也是主動決策。</a:t>
            </a:r>
          </a:p>
        </p:txBody>
      </p:sp>
    </p:spTree>
    <p:extLst>
      <p:ext uri="{BB962C8B-B14F-4D97-AF65-F5344CB8AC3E}">
        <p14:creationId xmlns:p14="http://schemas.microsoft.com/office/powerpoint/2010/main" val="1447702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9C7286A-22EB-43FC-A97B-3FDAE9905D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8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AF3581C-F060-40B4-97D1-E620A3148EFE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C9356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1A156258-9084-4BCA-96BC-66FB0CB7656E}"/>
              </a:ext>
            </a:extLst>
          </p:cNvPr>
          <p:cNvSpPr/>
          <p:nvPr/>
        </p:nvSpPr>
        <p:spPr>
          <a:xfrm>
            <a:off x="10223500" y="431800"/>
            <a:ext cx="1041400" cy="1041400"/>
          </a:xfrm>
          <a:prstGeom prst="ellipse">
            <a:avLst/>
          </a:prstGeom>
          <a:solidFill>
            <a:srgbClr val="1823B4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4B04B694-A23D-48D9-95F2-BA5417D73C15}"/>
              </a:ext>
            </a:extLst>
          </p:cNvPr>
          <p:cNvSpPr/>
          <p:nvPr/>
        </p:nvSpPr>
        <p:spPr>
          <a:xfrm>
            <a:off x="11112500" y="1168400"/>
            <a:ext cx="635000" cy="635000"/>
          </a:xfrm>
          <a:prstGeom prst="ellipse">
            <a:avLst/>
          </a:prstGeom>
          <a:solidFill>
            <a:srgbClr val="7F7408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3F9987CF-F184-4E3B-ADEF-2387C1604493}"/>
              </a:ext>
            </a:extLst>
          </p:cNvPr>
          <p:cNvSpPr/>
          <p:nvPr/>
        </p:nvSpPr>
        <p:spPr>
          <a:xfrm>
            <a:off x="482600" y="558800"/>
            <a:ext cx="11226800" cy="5562600"/>
          </a:xfrm>
          <a:prstGeom prst="roundRect">
            <a:avLst/>
          </a:prstGeom>
          <a:solidFill>
            <a:srgbClr val="FFFFFF"/>
          </a:solidFill>
          <a:ln>
            <a:solidFill>
              <a:srgbClr val="ECE4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44C8A1FC-C01F-4082-9B64-33FE80086593}"/>
              </a:ext>
            </a:extLst>
          </p:cNvPr>
          <p:cNvSpPr/>
          <p:nvPr/>
        </p:nvSpPr>
        <p:spPr>
          <a:xfrm>
            <a:off x="812800" y="838200"/>
            <a:ext cx="1803400" cy="355600"/>
          </a:xfrm>
          <a:prstGeom prst="roundRect">
            <a:avLst/>
          </a:prstGeom>
          <a:solidFill>
            <a:srgbClr val="8AE6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1DE706B-5FD0-4946-9522-E2CA0BA18BAC}"/>
              </a:ext>
            </a:extLst>
          </p:cNvPr>
          <p:cNvSpPr txBox="1"/>
          <p:nvPr/>
        </p:nvSpPr>
        <p:spPr>
          <a:xfrm>
            <a:off x="812800" y="1244600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TW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SpaceX </a:t>
            </a:r>
            <a:r>
              <a:rPr lang="zh-TW" altLang="en-US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的新想像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C1B2742-E471-4923-8370-D2294A217264}"/>
              </a:ext>
            </a:extLst>
          </p:cNvPr>
          <p:cNvSpPr txBox="1"/>
          <p:nvPr/>
        </p:nvSpPr>
        <p:spPr>
          <a:xfrm>
            <a:off x="838200" y="1943100"/>
            <a:ext cx="965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TW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Starlink </a:t>
            </a:r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之外，太空算力更有想像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224DCF3F-719B-4752-81D9-CA5AF2EE6A95}"/>
              </a:ext>
            </a:extLst>
          </p:cNvPr>
          <p:cNvSpPr/>
          <p:nvPr/>
        </p:nvSpPr>
        <p:spPr>
          <a:xfrm>
            <a:off x="939800" y="2616200"/>
            <a:ext cx="9931400" cy="29718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42EF070-5022-48D3-BCDE-917702A27737}"/>
              </a:ext>
            </a:extLst>
          </p:cNvPr>
          <p:cNvSpPr/>
          <p:nvPr/>
        </p:nvSpPr>
        <p:spPr>
          <a:xfrm>
            <a:off x="1219200" y="2895600"/>
            <a:ext cx="114300" cy="2387600"/>
          </a:xfrm>
          <a:prstGeom prst="rect">
            <a:avLst/>
          </a:prstGeom>
          <a:solidFill>
            <a:srgbClr val="C9356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B71AA60-8D1E-4077-9017-0223CB08ED5E}"/>
              </a:ext>
            </a:extLst>
          </p:cNvPr>
          <p:cNvSpPr txBox="1"/>
          <p:nvPr/>
        </p:nvSpPr>
        <p:spPr>
          <a:xfrm>
            <a:off x="1574800" y="2844800"/>
            <a:ext cx="8890000" cy="14157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市場已知道 </a:t>
            </a: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Starlink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和 </a:t>
            </a: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Direct-to-cell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更大的想像：衛星 </a:t>
            </a: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AI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運算與太空資料中心。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可能把運算設備送上軌道，或替別人發射算力設備並收費。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SpaceX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優勢：最難的是打上去，而它最強就是發射能力。</a:t>
            </a:r>
          </a:p>
        </p:txBody>
      </p:sp>
    </p:spTree>
    <p:extLst>
      <p:ext uri="{BB962C8B-B14F-4D97-AF65-F5344CB8AC3E}">
        <p14:creationId xmlns:p14="http://schemas.microsoft.com/office/powerpoint/2010/main" val="875249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49FF013-876F-49C3-9F5A-CB9E56F0A4D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E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C80DD9-ADD3-471F-8D4B-E7C33D2C5994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823B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ACA3FAE4-6817-4174-8D45-8DB694C62A8A}"/>
              </a:ext>
            </a:extLst>
          </p:cNvPr>
          <p:cNvSpPr/>
          <p:nvPr/>
        </p:nvSpPr>
        <p:spPr>
          <a:xfrm>
            <a:off x="10223500" y="431800"/>
            <a:ext cx="1041400" cy="1041400"/>
          </a:xfrm>
          <a:prstGeom prst="ellipse">
            <a:avLst/>
          </a:prstGeom>
          <a:solidFill>
            <a:srgbClr val="7F7408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C26ABEB0-8DDB-413D-8FB3-6F96F0609D95}"/>
              </a:ext>
            </a:extLst>
          </p:cNvPr>
          <p:cNvSpPr/>
          <p:nvPr/>
        </p:nvSpPr>
        <p:spPr>
          <a:xfrm>
            <a:off x="11112500" y="1168400"/>
            <a:ext cx="635000" cy="635000"/>
          </a:xfrm>
          <a:prstGeom prst="ellipse">
            <a:avLst/>
          </a:prstGeom>
          <a:solidFill>
            <a:srgbClr val="B06F2F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12F75D2B-836B-4A57-8332-CEE52FF7827D}"/>
              </a:ext>
            </a:extLst>
          </p:cNvPr>
          <p:cNvSpPr/>
          <p:nvPr/>
        </p:nvSpPr>
        <p:spPr>
          <a:xfrm>
            <a:off x="482600" y="558800"/>
            <a:ext cx="11226800" cy="5562600"/>
          </a:xfrm>
          <a:prstGeom prst="roundRect">
            <a:avLst/>
          </a:prstGeom>
          <a:solidFill>
            <a:srgbClr val="FFFFFF"/>
          </a:solidFill>
          <a:ln>
            <a:solidFill>
              <a:srgbClr val="ECE4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09C52C47-A002-4740-A08F-322AAB4E9D21}"/>
              </a:ext>
            </a:extLst>
          </p:cNvPr>
          <p:cNvSpPr/>
          <p:nvPr/>
        </p:nvSpPr>
        <p:spPr>
          <a:xfrm>
            <a:off x="812800" y="838200"/>
            <a:ext cx="1803400" cy="355600"/>
          </a:xfrm>
          <a:prstGeom prst="roundRect">
            <a:avLst/>
          </a:prstGeom>
          <a:solidFill>
            <a:srgbClr val="8AE6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CD3133B-DF27-41D9-97C5-BE21A07A5CDD}"/>
              </a:ext>
            </a:extLst>
          </p:cNvPr>
          <p:cNvSpPr txBox="1"/>
          <p:nvPr/>
        </p:nvSpPr>
        <p:spPr>
          <a:xfrm>
            <a:off x="812800" y="1244600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衛星 </a:t>
            </a:r>
            <a:r>
              <a:rPr lang="en-US" altLang="zh-TW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AI </a:t>
            </a:r>
            <a:r>
              <a:rPr lang="zh-TW" altLang="en-US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的台股供應鏈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E25314B-E2CC-4C4D-A779-2AECBA55B865}"/>
              </a:ext>
            </a:extLst>
          </p:cNvPr>
          <p:cNvSpPr txBox="1"/>
          <p:nvPr/>
        </p:nvSpPr>
        <p:spPr>
          <a:xfrm>
            <a:off x="838200" y="1943100"/>
            <a:ext cx="965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題材還遠，但市場常先炒可能性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09666583-8E53-4848-9C58-43BA3A4B426D}"/>
              </a:ext>
            </a:extLst>
          </p:cNvPr>
          <p:cNvSpPr/>
          <p:nvPr/>
        </p:nvSpPr>
        <p:spPr>
          <a:xfrm>
            <a:off x="939800" y="2616200"/>
            <a:ext cx="9931400" cy="29718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82147F6-6EE9-4665-B7A7-77BB5F2CD10D}"/>
              </a:ext>
            </a:extLst>
          </p:cNvPr>
          <p:cNvSpPr/>
          <p:nvPr/>
        </p:nvSpPr>
        <p:spPr>
          <a:xfrm>
            <a:off x="1219200" y="2895600"/>
            <a:ext cx="114300" cy="2387600"/>
          </a:xfrm>
          <a:prstGeom prst="rect">
            <a:avLst/>
          </a:prstGeom>
          <a:solidFill>
            <a:srgbClr val="1823B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75DED4E-ED79-498E-A8F5-4617706E973A}"/>
              </a:ext>
            </a:extLst>
          </p:cNvPr>
          <p:cNvSpPr txBox="1"/>
          <p:nvPr/>
        </p:nvSpPr>
        <p:spPr>
          <a:xfrm>
            <a:off x="1574800" y="2844800"/>
            <a:ext cx="8890000" cy="14157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可能牽動：太陽能板、散熱材料、特殊材料、</a:t>
            </a: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PCB / PCBA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也可能牽動電源、被動元件、高可靠度零組件。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節奏：題材先行、</a:t>
            </a: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prototype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露出、供應鏈被點名、量開始出來。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越早相信越可能吃前段，也越容易押錯。</a:t>
            </a:r>
          </a:p>
        </p:txBody>
      </p:sp>
    </p:spTree>
    <p:extLst>
      <p:ext uri="{BB962C8B-B14F-4D97-AF65-F5344CB8AC3E}">
        <p14:creationId xmlns:p14="http://schemas.microsoft.com/office/powerpoint/2010/main" val="1923392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DC2E98A-8BE3-49D0-A23A-EB008D100A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D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D85B02C-09C5-475F-98D0-6891B5D8E94E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F740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ADCAFE3B-6523-405A-B0C5-23A16FAE7B19}"/>
              </a:ext>
            </a:extLst>
          </p:cNvPr>
          <p:cNvSpPr/>
          <p:nvPr/>
        </p:nvSpPr>
        <p:spPr>
          <a:xfrm>
            <a:off x="10223500" y="431800"/>
            <a:ext cx="1041400" cy="1041400"/>
          </a:xfrm>
          <a:prstGeom prst="ellipse">
            <a:avLst/>
          </a:prstGeom>
          <a:solidFill>
            <a:srgbClr val="B06F2F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7C7D12E7-596A-4EBA-BCA6-ECABFE20911D}"/>
              </a:ext>
            </a:extLst>
          </p:cNvPr>
          <p:cNvSpPr/>
          <p:nvPr/>
        </p:nvSpPr>
        <p:spPr>
          <a:xfrm>
            <a:off x="11112500" y="1168400"/>
            <a:ext cx="635000" cy="635000"/>
          </a:xfrm>
          <a:prstGeom prst="ellipse">
            <a:avLst/>
          </a:prstGeom>
          <a:solidFill>
            <a:srgbClr val="0062A6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EBCCC014-455E-48C9-AA94-17FD2D7D89E4}"/>
              </a:ext>
            </a:extLst>
          </p:cNvPr>
          <p:cNvSpPr/>
          <p:nvPr/>
        </p:nvSpPr>
        <p:spPr>
          <a:xfrm>
            <a:off x="482600" y="558800"/>
            <a:ext cx="11226800" cy="5562600"/>
          </a:xfrm>
          <a:prstGeom prst="roundRect">
            <a:avLst/>
          </a:prstGeom>
          <a:solidFill>
            <a:srgbClr val="FFFFFF"/>
          </a:solidFill>
          <a:ln>
            <a:solidFill>
              <a:srgbClr val="ECE4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A85B98E3-3326-4A7E-85A7-CDDB67FD55AB}"/>
              </a:ext>
            </a:extLst>
          </p:cNvPr>
          <p:cNvSpPr/>
          <p:nvPr/>
        </p:nvSpPr>
        <p:spPr>
          <a:xfrm>
            <a:off x="812800" y="838200"/>
            <a:ext cx="1803400" cy="355600"/>
          </a:xfrm>
          <a:prstGeom prst="roundRect">
            <a:avLst/>
          </a:prstGeom>
          <a:solidFill>
            <a:srgbClr val="8AE6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9BC2A21-8332-4E23-84A4-44DB1E450660}"/>
              </a:ext>
            </a:extLst>
          </p:cNvPr>
          <p:cNvSpPr txBox="1"/>
          <p:nvPr/>
        </p:nvSpPr>
        <p:spPr>
          <a:xfrm>
            <a:off x="812800" y="1244600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TW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AI</a:t>
            </a:r>
            <a:r>
              <a:rPr lang="zh-TW" altLang="en-US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、機器人與題材成長股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ECF1B58-009C-4131-A194-44DE6030E156}"/>
              </a:ext>
            </a:extLst>
          </p:cNvPr>
          <p:cNvSpPr txBox="1"/>
          <p:nvPr/>
        </p:nvSpPr>
        <p:spPr>
          <a:xfrm>
            <a:off x="838200" y="1943100"/>
            <a:ext cx="965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題材股看的是變化率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A6D2ED28-46E8-4565-BBE9-38D8BB4FF442}"/>
              </a:ext>
            </a:extLst>
          </p:cNvPr>
          <p:cNvSpPr/>
          <p:nvPr/>
        </p:nvSpPr>
        <p:spPr>
          <a:xfrm>
            <a:off x="939800" y="2616200"/>
            <a:ext cx="9931400" cy="29718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2B7B4B8-BFDA-4F83-B4CA-726D64ABB1CD}"/>
              </a:ext>
            </a:extLst>
          </p:cNvPr>
          <p:cNvSpPr/>
          <p:nvPr/>
        </p:nvSpPr>
        <p:spPr>
          <a:xfrm>
            <a:off x="1219200" y="2895600"/>
            <a:ext cx="114300" cy="2387600"/>
          </a:xfrm>
          <a:prstGeom prst="rect">
            <a:avLst/>
          </a:prstGeom>
          <a:solidFill>
            <a:srgbClr val="7F740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2319C6E-2D99-41F7-90CF-0638DA0BD502}"/>
              </a:ext>
            </a:extLst>
          </p:cNvPr>
          <p:cNvSpPr txBox="1"/>
          <p:nvPr/>
        </p:nvSpPr>
        <p:spPr>
          <a:xfrm>
            <a:off x="1574800" y="2844800"/>
            <a:ext cx="8890000" cy="14157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機器人今年營收占比可能很低，但明年若成長五倍，市場就願意先炒。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題材股要看基期、成長率、市場信不信。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機器人和衛星 </a:t>
            </a: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AI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的共通點：先押未來需求，再等營收跟上。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風險：故事走不到訂單，或股價太早反映過多。</a:t>
            </a:r>
          </a:p>
        </p:txBody>
      </p:sp>
    </p:spTree>
    <p:extLst>
      <p:ext uri="{BB962C8B-B14F-4D97-AF65-F5344CB8AC3E}">
        <p14:creationId xmlns:p14="http://schemas.microsoft.com/office/powerpoint/2010/main" val="3187505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9133F08-DDBC-482E-814C-862AFE8C9B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EB66791-625E-4296-A130-000F4E994897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B06F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13C5BF8B-1093-47E5-8051-7B23A23D8DC0}"/>
              </a:ext>
            </a:extLst>
          </p:cNvPr>
          <p:cNvSpPr/>
          <p:nvPr/>
        </p:nvSpPr>
        <p:spPr>
          <a:xfrm>
            <a:off x="10223500" y="431800"/>
            <a:ext cx="1041400" cy="1041400"/>
          </a:xfrm>
          <a:prstGeom prst="ellipse">
            <a:avLst/>
          </a:prstGeom>
          <a:solidFill>
            <a:srgbClr val="0062A6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2488A2C0-0015-48E8-AED1-D291AB1EB656}"/>
              </a:ext>
            </a:extLst>
          </p:cNvPr>
          <p:cNvSpPr/>
          <p:nvPr/>
        </p:nvSpPr>
        <p:spPr>
          <a:xfrm>
            <a:off x="11112500" y="1168400"/>
            <a:ext cx="635000" cy="635000"/>
          </a:xfrm>
          <a:prstGeom prst="ellipse">
            <a:avLst/>
          </a:prstGeom>
          <a:solidFill>
            <a:srgbClr val="4C8316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B429531F-2A2A-48CC-B001-B7A0C19E12DB}"/>
              </a:ext>
            </a:extLst>
          </p:cNvPr>
          <p:cNvSpPr/>
          <p:nvPr/>
        </p:nvSpPr>
        <p:spPr>
          <a:xfrm>
            <a:off x="482600" y="558800"/>
            <a:ext cx="11226800" cy="5562600"/>
          </a:xfrm>
          <a:prstGeom prst="roundRect">
            <a:avLst/>
          </a:prstGeom>
          <a:solidFill>
            <a:srgbClr val="FFFFFF"/>
          </a:solidFill>
          <a:ln>
            <a:solidFill>
              <a:srgbClr val="ECE4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494F08E7-0E6A-4E51-98D6-7C09A5F83541}"/>
              </a:ext>
            </a:extLst>
          </p:cNvPr>
          <p:cNvSpPr/>
          <p:nvPr/>
        </p:nvSpPr>
        <p:spPr>
          <a:xfrm>
            <a:off x="812800" y="838200"/>
            <a:ext cx="1803400" cy="355600"/>
          </a:xfrm>
          <a:prstGeom prst="roundRect">
            <a:avLst/>
          </a:prstGeom>
          <a:solidFill>
            <a:srgbClr val="8AE6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4CF2E38-E032-4431-B63D-F0D31A0DCFB4}"/>
              </a:ext>
            </a:extLst>
          </p:cNvPr>
          <p:cNvSpPr txBox="1"/>
          <p:nvPr/>
        </p:nvSpPr>
        <p:spPr>
          <a:xfrm>
            <a:off x="812800" y="1244600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交易系統與被洗掉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D871916-A1DF-4836-82B2-712A48082D95}"/>
              </a:ext>
            </a:extLst>
          </p:cNvPr>
          <p:cNvSpPr txBox="1"/>
          <p:nvPr/>
        </p:nvSpPr>
        <p:spPr>
          <a:xfrm>
            <a:off x="838200" y="1943100"/>
            <a:ext cx="965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跌破就走，不代表後來大漲時你當初就錯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7A2A2EF8-E255-4AAA-B356-EFB785D05F42}"/>
              </a:ext>
            </a:extLst>
          </p:cNvPr>
          <p:cNvSpPr/>
          <p:nvPr/>
        </p:nvSpPr>
        <p:spPr>
          <a:xfrm>
            <a:off x="939800" y="2616200"/>
            <a:ext cx="9931400" cy="29718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4765C68-244B-4228-BF7C-6DA760410E08}"/>
              </a:ext>
            </a:extLst>
          </p:cNvPr>
          <p:cNvSpPr/>
          <p:nvPr/>
        </p:nvSpPr>
        <p:spPr>
          <a:xfrm>
            <a:off x="1219200" y="2895600"/>
            <a:ext cx="114300" cy="2387600"/>
          </a:xfrm>
          <a:prstGeom prst="rect">
            <a:avLst/>
          </a:prstGeom>
          <a:solidFill>
            <a:srgbClr val="B06F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4296570-A41F-4C84-BBA7-58E6D5157421}"/>
              </a:ext>
            </a:extLst>
          </p:cNvPr>
          <p:cNvSpPr txBox="1"/>
          <p:nvPr/>
        </p:nvSpPr>
        <p:spPr>
          <a:xfrm>
            <a:off x="1574800" y="2844800"/>
            <a:ext cx="8890000" cy="14157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如果規則是跌破就走，那當下走掉是合理的。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反過來也有股票跌破後一路下去，停損保護你不被重傷。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不要用一兩次賣飛或被洗掉，就判斷整套方法錯。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先問：這是規則問題，還是規則本來就要付的代價？</a:t>
            </a:r>
          </a:p>
        </p:txBody>
      </p:sp>
    </p:spTree>
    <p:extLst>
      <p:ext uri="{BB962C8B-B14F-4D97-AF65-F5344CB8AC3E}">
        <p14:creationId xmlns:p14="http://schemas.microsoft.com/office/powerpoint/2010/main" val="2916837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DFCCD82-8521-45C9-8DE2-8EA990D086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3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6BBE4D7-3676-4E98-BFB0-944E1DDD46D8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062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0319249F-6625-4A31-A0B6-9F2B77FA959A}"/>
              </a:ext>
            </a:extLst>
          </p:cNvPr>
          <p:cNvSpPr/>
          <p:nvPr/>
        </p:nvSpPr>
        <p:spPr>
          <a:xfrm>
            <a:off x="10223500" y="431800"/>
            <a:ext cx="1041400" cy="1041400"/>
          </a:xfrm>
          <a:prstGeom prst="ellipse">
            <a:avLst/>
          </a:prstGeom>
          <a:solidFill>
            <a:srgbClr val="4C8316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7963A695-3EE9-47A1-A567-DADB0A59C87F}"/>
              </a:ext>
            </a:extLst>
          </p:cNvPr>
          <p:cNvSpPr/>
          <p:nvPr/>
        </p:nvSpPr>
        <p:spPr>
          <a:xfrm>
            <a:off x="11112500" y="1168400"/>
            <a:ext cx="635000" cy="635000"/>
          </a:xfrm>
          <a:prstGeom prst="ellipse">
            <a:avLst/>
          </a:prstGeom>
          <a:solidFill>
            <a:srgbClr val="C93565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A4F84A79-2F27-44ED-AE5C-DEAD3F4F5CAD}"/>
              </a:ext>
            </a:extLst>
          </p:cNvPr>
          <p:cNvSpPr/>
          <p:nvPr/>
        </p:nvSpPr>
        <p:spPr>
          <a:xfrm>
            <a:off x="482600" y="558800"/>
            <a:ext cx="11226800" cy="5562600"/>
          </a:xfrm>
          <a:prstGeom prst="roundRect">
            <a:avLst/>
          </a:prstGeom>
          <a:solidFill>
            <a:srgbClr val="FFFFFF"/>
          </a:solidFill>
          <a:ln>
            <a:solidFill>
              <a:srgbClr val="ECE4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E38E4E4E-FE9D-4861-B039-0FEA70532267}"/>
              </a:ext>
            </a:extLst>
          </p:cNvPr>
          <p:cNvSpPr/>
          <p:nvPr/>
        </p:nvSpPr>
        <p:spPr>
          <a:xfrm>
            <a:off x="812800" y="838200"/>
            <a:ext cx="1803400" cy="355600"/>
          </a:xfrm>
          <a:prstGeom prst="roundRect">
            <a:avLst/>
          </a:prstGeom>
          <a:solidFill>
            <a:srgbClr val="8AE6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FB9767E-EC32-4377-8EFA-3810A4562728}"/>
              </a:ext>
            </a:extLst>
          </p:cNvPr>
          <p:cNvSpPr txBox="1"/>
          <p:nvPr/>
        </p:nvSpPr>
        <p:spPr>
          <a:xfrm>
            <a:off x="812800" y="1244600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每個方法都有代價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213A93C-1FBB-4647-A988-80D2934F8CF3}"/>
              </a:ext>
            </a:extLst>
          </p:cNvPr>
          <p:cNvSpPr txBox="1"/>
          <p:nvPr/>
        </p:nvSpPr>
        <p:spPr>
          <a:xfrm>
            <a:off x="838200" y="1943100"/>
            <a:ext cx="965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沒有完美系統，只有適合自己的系統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259BFF43-FBEF-467A-9B6C-CC925F7F16E6}"/>
              </a:ext>
            </a:extLst>
          </p:cNvPr>
          <p:cNvSpPr/>
          <p:nvPr/>
        </p:nvSpPr>
        <p:spPr>
          <a:xfrm>
            <a:off x="939800" y="2616200"/>
            <a:ext cx="9931400" cy="29718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211AAEB-C25D-40D5-8110-6368625CC226}"/>
              </a:ext>
            </a:extLst>
          </p:cNvPr>
          <p:cNvSpPr/>
          <p:nvPr/>
        </p:nvSpPr>
        <p:spPr>
          <a:xfrm>
            <a:off x="1219200" y="2895600"/>
            <a:ext cx="114300" cy="2387600"/>
          </a:xfrm>
          <a:prstGeom prst="rect">
            <a:avLst/>
          </a:prstGeom>
          <a:solidFill>
            <a:srgbClr val="0062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42015FE-2422-42B3-8B02-3497C9C66E0F}"/>
              </a:ext>
            </a:extLst>
          </p:cNvPr>
          <p:cNvSpPr txBox="1"/>
          <p:nvPr/>
        </p:nvSpPr>
        <p:spPr>
          <a:xfrm>
            <a:off x="1574800" y="2844800"/>
            <a:ext cx="8890000" cy="14157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停損快：少賠，但容易被洗掉。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停損慢：較不易被洗，但一次可能賠大。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抱很久：能吃大波段，但要承受大回撤。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快進快出：資金效率高，但容易錯過主升段。</a:t>
            </a:r>
          </a:p>
        </p:txBody>
      </p:sp>
    </p:spTree>
    <p:extLst>
      <p:ext uri="{BB962C8B-B14F-4D97-AF65-F5344CB8AC3E}">
        <p14:creationId xmlns:p14="http://schemas.microsoft.com/office/powerpoint/2010/main" val="2923744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7801DEE-7366-452A-8618-6D4C0C960ED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EF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C7D39C5-0648-4772-A2EF-12085AF07544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4C83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D8694297-9642-4339-97F2-4C677A7A6516}"/>
              </a:ext>
            </a:extLst>
          </p:cNvPr>
          <p:cNvSpPr/>
          <p:nvPr/>
        </p:nvSpPr>
        <p:spPr>
          <a:xfrm>
            <a:off x="10223500" y="431800"/>
            <a:ext cx="1041400" cy="1041400"/>
          </a:xfrm>
          <a:prstGeom prst="ellipse">
            <a:avLst/>
          </a:prstGeom>
          <a:solidFill>
            <a:srgbClr val="C93565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0678386E-DDCC-4E7D-98FE-21DE49535A56}"/>
              </a:ext>
            </a:extLst>
          </p:cNvPr>
          <p:cNvSpPr/>
          <p:nvPr/>
        </p:nvSpPr>
        <p:spPr>
          <a:xfrm>
            <a:off x="11112500" y="1168400"/>
            <a:ext cx="635000" cy="635000"/>
          </a:xfrm>
          <a:prstGeom prst="ellipse">
            <a:avLst/>
          </a:prstGeom>
          <a:solidFill>
            <a:srgbClr val="1823B4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610E3BD7-ACA0-4981-B9AD-6331BB227601}"/>
              </a:ext>
            </a:extLst>
          </p:cNvPr>
          <p:cNvSpPr/>
          <p:nvPr/>
        </p:nvSpPr>
        <p:spPr>
          <a:xfrm>
            <a:off x="482600" y="558800"/>
            <a:ext cx="11226800" cy="5562600"/>
          </a:xfrm>
          <a:prstGeom prst="roundRect">
            <a:avLst/>
          </a:prstGeom>
          <a:solidFill>
            <a:srgbClr val="FFFFFF"/>
          </a:solidFill>
          <a:ln>
            <a:solidFill>
              <a:srgbClr val="ECE4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695C5C4E-7C51-469F-97C9-F47ED2BCDD95}"/>
              </a:ext>
            </a:extLst>
          </p:cNvPr>
          <p:cNvSpPr/>
          <p:nvPr/>
        </p:nvSpPr>
        <p:spPr>
          <a:xfrm>
            <a:off x="812800" y="838200"/>
            <a:ext cx="1803400" cy="355600"/>
          </a:xfrm>
          <a:prstGeom prst="roundRect">
            <a:avLst/>
          </a:prstGeom>
          <a:solidFill>
            <a:srgbClr val="8AE6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7A33C19-6CEA-4C7D-87DB-34F41A759741}"/>
              </a:ext>
            </a:extLst>
          </p:cNvPr>
          <p:cNvSpPr txBox="1"/>
          <p:nvPr/>
        </p:nvSpPr>
        <p:spPr>
          <a:xfrm>
            <a:off x="812800" y="1244600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行情、財富與生活重心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B134DFF-06C0-4762-8FEE-4A5BB070C246}"/>
              </a:ext>
            </a:extLst>
          </p:cNvPr>
          <p:cNvSpPr txBox="1"/>
          <p:nvPr/>
        </p:nvSpPr>
        <p:spPr>
          <a:xfrm>
            <a:off x="838200" y="1943100"/>
            <a:ext cx="965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大行情會改變很多人的人生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61DA77B8-B194-4D89-BC29-8249534A1431}"/>
              </a:ext>
            </a:extLst>
          </p:cNvPr>
          <p:cNvSpPr/>
          <p:nvPr/>
        </p:nvSpPr>
        <p:spPr>
          <a:xfrm>
            <a:off x="939800" y="2616200"/>
            <a:ext cx="9931400" cy="29718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E9339CD-80C8-43E4-A519-183ACE97BBD0}"/>
              </a:ext>
            </a:extLst>
          </p:cNvPr>
          <p:cNvSpPr/>
          <p:nvPr/>
        </p:nvSpPr>
        <p:spPr>
          <a:xfrm>
            <a:off x="1219200" y="2895600"/>
            <a:ext cx="114300" cy="2387600"/>
          </a:xfrm>
          <a:prstGeom prst="rect">
            <a:avLst/>
          </a:prstGeom>
          <a:solidFill>
            <a:srgbClr val="4C83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C012329-D28F-4A95-AD12-59A68391777B}"/>
              </a:ext>
            </a:extLst>
          </p:cNvPr>
          <p:cNvSpPr txBox="1"/>
          <p:nvPr/>
        </p:nvSpPr>
        <p:spPr>
          <a:xfrm>
            <a:off x="1574800" y="2844800"/>
            <a:ext cx="8890000" cy="14157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這波行情讓很多人累積巨大財富，甚至有人準備離職。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不一定靠複雜選股，有人只是買對主題或 </a:t>
            </a: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ETF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行情好時珍惜獲利，也珍惜身邊還一起工作的朋友。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修正來時，市場會把理性和謙卑收回來。</a:t>
            </a:r>
          </a:p>
        </p:txBody>
      </p:sp>
    </p:spTree>
    <p:extLst>
      <p:ext uri="{BB962C8B-B14F-4D97-AF65-F5344CB8AC3E}">
        <p14:creationId xmlns:p14="http://schemas.microsoft.com/office/powerpoint/2010/main" val="4116594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DFA159B-C902-4E67-B0F6-13D04B4C682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8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CACF4A-9FA2-45CF-86B5-10707DE2DF08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C9356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86D61C08-43C1-4E1E-9E6A-2E5636A1938E}"/>
              </a:ext>
            </a:extLst>
          </p:cNvPr>
          <p:cNvSpPr/>
          <p:nvPr/>
        </p:nvSpPr>
        <p:spPr>
          <a:xfrm>
            <a:off x="10223500" y="431800"/>
            <a:ext cx="1041400" cy="1041400"/>
          </a:xfrm>
          <a:prstGeom prst="ellipse">
            <a:avLst/>
          </a:prstGeom>
          <a:solidFill>
            <a:srgbClr val="1823B4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9072AE80-0A47-4DEE-8CF7-2C2D68DD4D48}"/>
              </a:ext>
            </a:extLst>
          </p:cNvPr>
          <p:cNvSpPr/>
          <p:nvPr/>
        </p:nvSpPr>
        <p:spPr>
          <a:xfrm>
            <a:off x="11112500" y="1168400"/>
            <a:ext cx="635000" cy="635000"/>
          </a:xfrm>
          <a:prstGeom prst="ellipse">
            <a:avLst/>
          </a:prstGeom>
          <a:solidFill>
            <a:srgbClr val="7F7408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00E719C2-3F20-4D77-B48C-9603467D624B}"/>
              </a:ext>
            </a:extLst>
          </p:cNvPr>
          <p:cNvSpPr/>
          <p:nvPr/>
        </p:nvSpPr>
        <p:spPr>
          <a:xfrm>
            <a:off x="482600" y="558800"/>
            <a:ext cx="11226800" cy="5562600"/>
          </a:xfrm>
          <a:prstGeom prst="roundRect">
            <a:avLst/>
          </a:prstGeom>
          <a:solidFill>
            <a:srgbClr val="FFFFFF"/>
          </a:solidFill>
          <a:ln>
            <a:solidFill>
              <a:srgbClr val="ECE4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D85E035E-ED82-4505-B029-F871CFA6C64A}"/>
              </a:ext>
            </a:extLst>
          </p:cNvPr>
          <p:cNvSpPr/>
          <p:nvPr/>
        </p:nvSpPr>
        <p:spPr>
          <a:xfrm>
            <a:off x="812800" y="838200"/>
            <a:ext cx="1803400" cy="355600"/>
          </a:xfrm>
          <a:prstGeom prst="roundRect">
            <a:avLst/>
          </a:prstGeom>
          <a:solidFill>
            <a:srgbClr val="8AE6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6EEB511-A5EF-4E49-A054-006F5DC149F4}"/>
              </a:ext>
            </a:extLst>
          </p:cNvPr>
          <p:cNvSpPr txBox="1"/>
          <p:nvPr/>
        </p:nvSpPr>
        <p:spPr>
          <a:xfrm>
            <a:off x="812800" y="1244600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習慣失去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1D4E133-78F7-4028-BA9D-B8C948292116}"/>
              </a:ext>
            </a:extLst>
          </p:cNvPr>
          <p:cNvSpPr txBox="1"/>
          <p:nvPr/>
        </p:nvSpPr>
        <p:spPr>
          <a:xfrm>
            <a:off x="838200" y="1943100"/>
            <a:ext cx="965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從秒速五公分回到投資心法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38401524-DB98-4116-AFB7-994CB1C3287A}"/>
              </a:ext>
            </a:extLst>
          </p:cNvPr>
          <p:cNvSpPr/>
          <p:nvPr/>
        </p:nvSpPr>
        <p:spPr>
          <a:xfrm>
            <a:off x="939800" y="2616200"/>
            <a:ext cx="9931400" cy="29718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CFA5E1C-C7EA-4E7C-A5E7-D7CAD4819B8B}"/>
              </a:ext>
            </a:extLst>
          </p:cNvPr>
          <p:cNvSpPr/>
          <p:nvPr/>
        </p:nvSpPr>
        <p:spPr>
          <a:xfrm>
            <a:off x="1219200" y="2895600"/>
            <a:ext cx="114300" cy="2387600"/>
          </a:xfrm>
          <a:prstGeom prst="rect">
            <a:avLst/>
          </a:prstGeom>
          <a:solidFill>
            <a:srgbClr val="C9356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CD1862B-98D2-45FD-AD55-69015182B013}"/>
              </a:ext>
            </a:extLst>
          </p:cNvPr>
          <p:cNvSpPr txBox="1"/>
          <p:nvPr/>
        </p:nvSpPr>
        <p:spPr>
          <a:xfrm>
            <a:off x="1574800" y="2844800"/>
            <a:ext cx="8890000" cy="14157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投資要習慣賣飛、少賺、賠一點、不是每次都完美。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不要只看失去什麼，也要看得到什麼。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得到經驗、本金、生活和留下來的能力。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真正要追求的不是每次完美，而是長期持續變好。</a:t>
            </a:r>
          </a:p>
        </p:txBody>
      </p:sp>
    </p:spTree>
    <p:extLst>
      <p:ext uri="{BB962C8B-B14F-4D97-AF65-F5344CB8AC3E}">
        <p14:creationId xmlns:p14="http://schemas.microsoft.com/office/powerpoint/2010/main" val="36609910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C8173A2-5742-4E0B-BA00-06A6E13721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E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6E7A25-1635-4A4A-8BB2-1080840E107C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823B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E7DFA289-7002-4A02-A4DE-F3FC9C127E47}"/>
              </a:ext>
            </a:extLst>
          </p:cNvPr>
          <p:cNvSpPr/>
          <p:nvPr/>
        </p:nvSpPr>
        <p:spPr>
          <a:xfrm>
            <a:off x="10223500" y="431800"/>
            <a:ext cx="1041400" cy="1041400"/>
          </a:xfrm>
          <a:prstGeom prst="ellipse">
            <a:avLst/>
          </a:prstGeom>
          <a:solidFill>
            <a:srgbClr val="7F7408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0CCD6A0D-EBC6-4F9C-878F-FAD14C24ECE0}"/>
              </a:ext>
            </a:extLst>
          </p:cNvPr>
          <p:cNvSpPr/>
          <p:nvPr/>
        </p:nvSpPr>
        <p:spPr>
          <a:xfrm>
            <a:off x="11112500" y="1168400"/>
            <a:ext cx="635000" cy="635000"/>
          </a:xfrm>
          <a:prstGeom prst="ellipse">
            <a:avLst/>
          </a:prstGeom>
          <a:solidFill>
            <a:srgbClr val="B06F2F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285F3FA7-AEEA-4FA9-9E85-DB6FAA307023}"/>
              </a:ext>
            </a:extLst>
          </p:cNvPr>
          <p:cNvSpPr/>
          <p:nvPr/>
        </p:nvSpPr>
        <p:spPr>
          <a:xfrm>
            <a:off x="482600" y="558800"/>
            <a:ext cx="11226800" cy="5562600"/>
          </a:xfrm>
          <a:prstGeom prst="roundRect">
            <a:avLst/>
          </a:prstGeom>
          <a:solidFill>
            <a:srgbClr val="FFFFFF"/>
          </a:solidFill>
          <a:ln>
            <a:solidFill>
              <a:srgbClr val="ECE4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452DA71A-777E-4479-BBE7-84FF6A570F6C}"/>
              </a:ext>
            </a:extLst>
          </p:cNvPr>
          <p:cNvSpPr/>
          <p:nvPr/>
        </p:nvSpPr>
        <p:spPr>
          <a:xfrm>
            <a:off x="812800" y="838200"/>
            <a:ext cx="1803400" cy="355600"/>
          </a:xfrm>
          <a:prstGeom prst="roundRect">
            <a:avLst/>
          </a:prstGeom>
          <a:solidFill>
            <a:srgbClr val="8AE6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DF753AA-90ED-4620-B0C8-0B2E7B796FAE}"/>
              </a:ext>
            </a:extLst>
          </p:cNvPr>
          <p:cNvSpPr txBox="1"/>
          <p:nvPr/>
        </p:nvSpPr>
        <p:spPr>
          <a:xfrm>
            <a:off x="812800" y="1244600"/>
            <a:ext cx="9652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3000" b="1">
                <a:solidFill>
                  <a:srgbClr val="2718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可以再查的方向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93301D5-C84D-47A6-B759-0D30F0B62390}"/>
              </a:ext>
            </a:extLst>
          </p:cNvPr>
          <p:cNvSpPr txBox="1"/>
          <p:nvPr/>
        </p:nvSpPr>
        <p:spPr>
          <a:xfrm>
            <a:off x="838200" y="1943100"/>
            <a:ext cx="965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TW" altLang="en-US" sz="1500">
                <a:solidFill>
                  <a:srgbClr val="80726B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不用交作業，當自己的資料夾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CC9D6E26-144B-498D-AF90-78E04D44DC85}"/>
              </a:ext>
            </a:extLst>
          </p:cNvPr>
          <p:cNvSpPr/>
          <p:nvPr/>
        </p:nvSpPr>
        <p:spPr>
          <a:xfrm>
            <a:off x="939800" y="2616200"/>
            <a:ext cx="9931400" cy="2971800"/>
          </a:xfrm>
          <a:prstGeom prst="roundRect">
            <a:avLst/>
          </a:prstGeom>
          <a:solidFill>
            <a:srgbClr val="FCFAF8"/>
          </a:solidFill>
          <a:ln>
            <a:solidFill>
              <a:srgbClr val="EBE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202D3BE-DB28-40C2-9EF4-B5EA9015D64E}"/>
              </a:ext>
            </a:extLst>
          </p:cNvPr>
          <p:cNvSpPr/>
          <p:nvPr/>
        </p:nvSpPr>
        <p:spPr>
          <a:xfrm>
            <a:off x="1219200" y="2895600"/>
            <a:ext cx="114300" cy="2387600"/>
          </a:xfrm>
          <a:prstGeom prst="rect">
            <a:avLst/>
          </a:prstGeom>
          <a:solidFill>
            <a:srgbClr val="1823B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501E34C-8F20-4069-B577-4587E8EBDE87}"/>
              </a:ext>
            </a:extLst>
          </p:cNvPr>
          <p:cNvSpPr txBox="1"/>
          <p:nvPr/>
        </p:nvSpPr>
        <p:spPr>
          <a:xfrm>
            <a:off x="1574800" y="2844800"/>
            <a:ext cx="8890000" cy="14157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整理自己的投資方法、停損規則和最怕的盤勢。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用 </a:t>
            </a: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SpaceX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框架找台股供應鏈，分辨實際出貨與純題材。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回想一次賣飛或錯過，判斷是規則問題還是必要代價。</a:t>
            </a:r>
          </a:p>
          <a:p>
            <a:pPr>
              <a:spcAft>
                <a:spcPts val="800"/>
              </a:spcAft>
            </a:pPr>
            <a:r>
              <a:rPr lang="en-US" altLang="zh-TW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• </a:t>
            </a:r>
            <a:r>
              <a:rPr lang="zh-TW" altLang="en-US">
                <a:solidFill>
                  <a:srgbClr val="514137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最後問自己：我押的是基本面、題材、動能，還是信仰？</a:t>
            </a:r>
          </a:p>
        </p:txBody>
      </p:sp>
    </p:spTree>
    <p:extLst>
      <p:ext uri="{BB962C8B-B14F-4D97-AF65-F5344CB8AC3E}">
        <p14:creationId xmlns:p14="http://schemas.microsoft.com/office/powerpoint/2010/main" val="2230917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1264</Words>
  <Application>Microsoft Office PowerPoint</Application>
  <PresentationFormat>自訂</PresentationFormat>
  <Paragraphs>100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鈞霖 陳</dc:creator>
  <cp:lastModifiedBy>鈞霖 陳</cp:lastModifiedBy>
  <cp:revision>1</cp:revision>
  <dcterms:created xsi:type="dcterms:W3CDTF">2026-05-29T03:49:41Z</dcterms:created>
  <dcterms:modified xsi:type="dcterms:W3CDTF">2026-05-29T03:49:42Z</dcterms:modified>
</cp:coreProperties>
</file>